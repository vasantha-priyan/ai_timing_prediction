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200" b="1">
                <a:solidFill>
                  <a:srgbClr val="00E676"/>
                </a:solidFill>
                <a:latin typeface="Consolas"/>
              </a:defRPr>
            </a:pPr>
            <a:r>
              <a:t>⚡ ENTERPRISE EDA CAD WORKBENCH</a:t>
            </a:r>
          </a:p>
          <a:p>
            <a:pPr>
              <a:spcAft>
                <a:spcPts val="2400"/>
              </a:spcAft>
              <a:defRPr sz="2600" b="1">
                <a:solidFill>
                  <a:srgbClr val="F0F0F0"/>
                </a:solidFill>
                <a:latin typeface="Segoe UI"/>
              </a:defRPr>
            </a:pPr>
            <a:r>
              <a:t>An Explainable AI-Assisted Early Timing Violation Prediction and Optimization Framework Using Open-Source EDA Tools</a:t>
            </a:r>
          </a:p>
          <a:p>
            <a:pPr>
              <a:spcAft>
                <a:spcPts val="600"/>
              </a:spcAft>
              <a:defRPr sz="1400">
                <a:solidFill>
                  <a:srgbClr val="8B949E"/>
                </a:solidFill>
                <a:latin typeface="Segoe UI"/>
              </a:defRPr>
            </a:pPr>
            <a:r>
              <a:t>• Domain: VLSI Physical Design Automation &amp; Explainable AI (XAI)</a:t>
            </a:r>
          </a:p>
          <a:p>
            <a:pPr>
              <a:spcAft>
                <a:spcPts val="600"/>
              </a:spcAft>
              <a:defRPr sz="1400">
                <a:solidFill>
                  <a:srgbClr val="8B949E"/>
                </a:solidFill>
                <a:latin typeface="Segoe UI"/>
              </a:defRPr>
            </a:pPr>
            <a:r>
              <a:t>• Target PDK: Nangate 45nm Standard Cell Open Library</a:t>
            </a:r>
          </a:p>
          <a:p>
            <a:pPr>
              <a:defRPr sz="1400">
                <a:solidFill>
                  <a:srgbClr val="8B949E"/>
                </a:solidFill>
                <a:latin typeface="Segoe UI"/>
              </a:defRPr>
            </a:pPr>
            <a:r>
              <a:t>• EDA Integration: Yosys 0.38 (Synthesis) | OpenROAD 2.0 (Layout) | OpenSTA 2.5 (Timing)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E676"/>
                </a:solidFill>
                <a:latin typeface="Consolas"/>
              </a:defRPr>
            </a:pPr>
            <a:r>
              <a:t>VLSI CAD &amp; AI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0F0F0"/>
                </a:solidFill>
                <a:latin typeface="Segoe UI"/>
              </a:defRPr>
            </a:pPr>
            <a:r>
              <a:t>Proposed Work &amp; Key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00E676"/>
                </a:solidFill>
              </a:defRPr>
            </a:pPr>
            <a:r>
              <a:t>📌 Problem Statement</a:t>
            </a:r>
          </a:p>
          <a:p>
            <a:pPr>
              <a:spcAft>
                <a:spcPts val="1000"/>
              </a:spcAft>
              <a:defRPr sz="1300">
                <a:solidFill>
                  <a:srgbClr val="F0F0F0"/>
                </a:solidFill>
              </a:defRPr>
            </a:pPr>
            <a:r>
              <a:t>• Traditional ASIC physical design sign-off requires hours of full routing and Static Timing Analysis (STA) iterations.</a:t>
            </a:r>
          </a:p>
          <a:p>
            <a:pPr>
              <a:spcAft>
                <a:spcPts val="1000"/>
              </a:spcAft>
              <a:defRPr sz="1300">
                <a:solidFill>
                  <a:srgbClr val="F0F0F0"/>
                </a:solidFill>
              </a:defRPr>
            </a:pPr>
            <a:r>
              <a:t>• Detecting setup timing violations (WNS &lt; 0) late in the flow causes major Turnaround Time (TAT) delays.</a:t>
            </a:r>
          </a:p>
          <a:p>
            <a:pPr>
              <a:spcAft>
                <a:spcPts val="1000"/>
              </a:spcAft>
              <a:defRPr sz="1300">
                <a:solidFill>
                  <a:srgbClr val="F0F0F0"/>
                </a:solidFill>
              </a:defRPr>
            </a:pPr>
            <a:r>
              <a:t>• Fixing timing failures late requires costly re-synthesis and re-routing loops.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00E676"/>
                </a:solidFill>
              </a:defRPr>
            </a:pPr>
            <a:r>
              <a:t>🎯 Proposed Solution</a:t>
            </a:r>
          </a:p>
          <a:p>
            <a:pPr>
              <a:spcAft>
                <a:spcPts val="800"/>
              </a:spcAft>
              <a:defRPr sz="1300">
                <a:solidFill>
                  <a:srgbClr val="F0F0F0"/>
                </a:solidFill>
              </a:defRPr>
            </a:pPr>
            <a:r>
              <a:t>• Early Prediction: Predict setup violations post-placement PRIOR to detailed routing using Random Forest &amp; XGBoost (97.29% accuracy).</a:t>
            </a:r>
          </a:p>
          <a:p>
            <a:pPr>
              <a:spcAft>
                <a:spcPts val="800"/>
              </a:spcAft>
              <a:defRPr sz="1300">
                <a:solidFill>
                  <a:srgbClr val="F0F0F0"/>
                </a:solidFill>
              </a:defRPr>
            </a:pPr>
            <a:r>
              <a:t>• Open-Source EDA Tool Chain: Seamless integration of Yosys, OpenROAD, and OpenSTA.</a:t>
            </a:r>
          </a:p>
          <a:p>
            <a:pPr>
              <a:spcAft>
                <a:spcPts val="800"/>
              </a:spcAft>
              <a:defRPr sz="1300">
                <a:solidFill>
                  <a:srgbClr val="F0F0F0"/>
                </a:solidFill>
              </a:defRPr>
            </a:pPr>
            <a:r>
              <a:t>• Explainable AI (SHAP): Identifies logic depth, fanout, and congestion as failure drivers.</a:t>
            </a:r>
          </a:p>
          <a:p>
            <a:pPr>
              <a:spcAft>
                <a:spcPts val="800"/>
              </a:spcAft>
              <a:defRPr sz="1300">
                <a:solidFill>
                  <a:srgbClr val="F0F0F0"/>
                </a:solidFill>
              </a:defRPr>
            </a:pPr>
            <a:r>
              <a:t>• Automated Directives: Recommends pipeline register insertion, buffering, and cell upsizing.</a:t>
            </a:r>
          </a:p>
          <a:p>
            <a:pPr>
              <a:spcAft>
                <a:spcPts val="800"/>
              </a:spcAft>
              <a:defRPr sz="1300">
                <a:solidFill>
                  <a:srgbClr val="F0F0F0"/>
                </a:solidFill>
              </a:defRPr>
            </a:pPr>
            <a:r>
              <a:t>• Interactive CAD Workbench: Provides Streamlit web UI and IEEE PDF report exporter.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E676"/>
                </a:solidFill>
                <a:latin typeface="Consolas"/>
              </a:defRPr>
            </a:pPr>
            <a:r>
              <a:t>VLSI CAD &amp; AI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0F0F0"/>
                </a:solidFill>
                <a:latin typeface="Segoe UI"/>
              </a:defRPr>
            </a:pPr>
            <a:r>
              <a:t>System Architecture &amp; CAD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468880" cy="34747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600"/>
              </a:spcAft>
              <a:defRPr sz="1600" b="1">
                <a:solidFill>
                  <a:srgbClr val="00E676"/>
                </a:solidFill>
              </a:defRPr>
            </a:pPr>
            <a:r>
              <a:t>1. Input RTL</a:t>
            </a:r>
          </a:p>
          <a:p>
            <a:pPr algn="ctr">
              <a:lnSpc>
                <a:spcPct val="140000"/>
              </a:lnSpc>
              <a:defRPr sz="1300">
                <a:solidFill>
                  <a:srgbClr val="F0F0F0"/>
                </a:solidFill>
              </a:defRPr>
            </a:pPr>
            <a:r>
              <a:t>Verilog Source (.v/.sv)</a:t>
            </a:r>
            <a:br/>
            <a:r>
              <a:t>Syntax Checker</a:t>
            </a:r>
            <a:br/>
            <a:r>
              <a:t>Visual Schematic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011680"/>
            <a:ext cx="2468880" cy="34747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600"/>
              </a:spcAft>
              <a:defRPr sz="1600" b="1">
                <a:solidFill>
                  <a:srgbClr val="00E676"/>
                </a:solidFill>
              </a:defRPr>
            </a:pPr>
            <a:r>
              <a:t>2. EDA Flow</a:t>
            </a:r>
          </a:p>
          <a:p>
            <a:pPr algn="ctr">
              <a:lnSpc>
                <a:spcPct val="140000"/>
              </a:lnSpc>
              <a:defRPr sz="1300">
                <a:solidFill>
                  <a:srgbClr val="F0F0F0"/>
                </a:solidFill>
              </a:defRPr>
            </a:pPr>
            <a:r>
              <a:t>Yosys Synthesis</a:t>
            </a:r>
            <a:br/>
            <a:r>
              <a:t>OpenROAD Placement</a:t>
            </a:r>
            <a:br/>
            <a:r>
              <a:t>OpenSTA Timing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2468880" cy="34747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600"/>
              </a:spcAft>
              <a:defRPr sz="1600" b="1">
                <a:solidFill>
                  <a:srgbClr val="00E676"/>
                </a:solidFill>
              </a:defRPr>
            </a:pPr>
            <a:r>
              <a:t>3. ML Engine</a:t>
            </a:r>
          </a:p>
          <a:p>
            <a:pPr algn="ctr">
              <a:lnSpc>
                <a:spcPct val="140000"/>
              </a:lnSpc>
              <a:defRPr sz="1300">
                <a:solidFill>
                  <a:srgbClr val="F0F0F0"/>
                </a:solidFill>
              </a:defRPr>
            </a:pPr>
            <a:r>
              <a:t>16D Feature Extractor</a:t>
            </a:r>
            <a:br/>
            <a:r>
              <a:t>Standard Scaler</a:t>
            </a:r>
            <a:br/>
            <a:r>
              <a:t>Random Forest / XGB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2011680"/>
            <a:ext cx="2468880" cy="34747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600"/>
              </a:spcAft>
              <a:defRPr sz="1600" b="1">
                <a:solidFill>
                  <a:srgbClr val="00E676"/>
                </a:solidFill>
              </a:defRPr>
            </a:pPr>
            <a:r>
              <a:t>4. Closure</a:t>
            </a:r>
          </a:p>
          <a:p>
            <a:pPr algn="ctr">
              <a:lnSpc>
                <a:spcPct val="140000"/>
              </a:lnSpc>
              <a:defRPr sz="1300">
                <a:solidFill>
                  <a:srgbClr val="F0F0F0"/>
                </a:solidFill>
              </a:defRPr>
            </a:pPr>
            <a:r>
              <a:t>SHAP Feature Driver</a:t>
            </a:r>
            <a:br/>
            <a:r>
              <a:t>Optimization Directives</a:t>
            </a:r>
            <a:br/>
            <a:r>
              <a:t>PDF Sign-Off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E676"/>
                </a:solidFill>
                <a:latin typeface="Consolas"/>
              </a:defRPr>
            </a:pPr>
            <a:r>
              <a:t>VLSI CAD &amp; AI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0F0F0"/>
                </a:solidFill>
                <a:latin typeface="Segoe UI"/>
              </a:defRPr>
            </a:pPr>
            <a:r>
              <a:t>Hardware &amp; Software 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 b="1">
                <a:solidFill>
                  <a:srgbClr val="00E676"/>
                </a:solidFill>
              </a:defRPr>
            </a:pPr>
            <a:r>
              <a:t>💻 Software Specifications</a:t>
            </a:r>
          </a:p>
          <a:p>
            <a:pPr>
              <a:spcAft>
                <a:spcPts val="600"/>
              </a:spcAft>
              <a:defRPr sz="1200">
                <a:solidFill>
                  <a:srgbClr val="F0F0F0"/>
                </a:solidFill>
              </a:defRPr>
            </a:pPr>
            <a:r>
              <a:t>• Operating System: Windows 10/11 / Linux Ubuntu 22.04</a:t>
            </a:r>
          </a:p>
          <a:p>
            <a:pPr>
              <a:spcAft>
                <a:spcPts val="600"/>
              </a:spcAft>
              <a:defRPr sz="1200">
                <a:solidFill>
                  <a:srgbClr val="F0F0F0"/>
                </a:solidFill>
              </a:defRPr>
            </a:pPr>
            <a:r>
              <a:t>• Synthesis Engine: Yosys 0.38 Open-Source Tool</a:t>
            </a:r>
          </a:p>
          <a:p>
            <a:pPr>
              <a:spcAft>
                <a:spcPts val="600"/>
              </a:spcAft>
              <a:defRPr sz="1200">
                <a:solidFill>
                  <a:srgbClr val="F0F0F0"/>
                </a:solidFill>
              </a:defRPr>
            </a:pPr>
            <a:r>
              <a:t>• Physical Layout: OpenROAD 2.0 (Place, CTS, Route)</a:t>
            </a:r>
          </a:p>
          <a:p>
            <a:pPr>
              <a:spcAft>
                <a:spcPts val="600"/>
              </a:spcAft>
              <a:defRPr sz="1200">
                <a:solidFill>
                  <a:srgbClr val="F0F0F0"/>
                </a:solidFill>
              </a:defRPr>
            </a:pPr>
            <a:r>
              <a:t>• Timing Engine: OpenSTA 2.5 Static Timing Analyzer</a:t>
            </a:r>
          </a:p>
          <a:p>
            <a:pPr>
              <a:spcAft>
                <a:spcPts val="600"/>
              </a:spcAft>
              <a:defRPr sz="1200">
                <a:solidFill>
                  <a:srgbClr val="F0F0F0"/>
                </a:solidFill>
              </a:defRPr>
            </a:pPr>
            <a:r>
              <a:t>• Target PDK: Nangate 45nm Open Cell Library</a:t>
            </a:r>
          </a:p>
          <a:p>
            <a:pPr>
              <a:spcAft>
                <a:spcPts val="600"/>
              </a:spcAft>
              <a:defRPr sz="1200">
                <a:solidFill>
                  <a:srgbClr val="F0F0F0"/>
                </a:solidFill>
              </a:defRPr>
            </a:pPr>
            <a:r>
              <a:t>• Machine Learning: Python 3.13, Scikit-Learn 1.6, XGBoost 2.1</a:t>
            </a:r>
          </a:p>
          <a:p>
            <a:pPr>
              <a:spcAft>
                <a:spcPts val="600"/>
              </a:spcAft>
              <a:defRPr sz="1200">
                <a:solidFill>
                  <a:srgbClr val="F0F0F0"/>
                </a:solidFill>
              </a:defRPr>
            </a:pPr>
            <a:r>
              <a:t>• Explainable AI: SHAP 0.46 Feature Attribution Engine</a:t>
            </a:r>
          </a:p>
          <a:p>
            <a:pPr>
              <a:spcAft>
                <a:spcPts val="600"/>
              </a:spcAft>
              <a:defRPr sz="1200">
                <a:solidFill>
                  <a:srgbClr val="F0F0F0"/>
                </a:solidFill>
              </a:defRPr>
            </a:pPr>
            <a:r>
              <a:t>• CAD Interface: Streamlit 1.39 Enterprise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 b="1">
                <a:solidFill>
                  <a:srgbClr val="00E676"/>
                </a:solidFill>
              </a:defRPr>
            </a:pPr>
            <a:r>
              <a:t>🖥️ Hardware Specifications</a:t>
            </a:r>
          </a:p>
          <a:p>
            <a:pPr>
              <a:spcAft>
                <a:spcPts val="1200"/>
              </a:spcAft>
              <a:defRPr sz="1300">
                <a:solidFill>
                  <a:srgbClr val="F0F0F0"/>
                </a:solidFill>
              </a:defRPr>
            </a:pPr>
            <a:r>
              <a:t>• Processor: Intel Core i5/i7/i9 or AMD Ryzen 5/7/9 (Multi-Core 3.0 GHz+)</a:t>
            </a:r>
          </a:p>
          <a:p>
            <a:pPr>
              <a:spcAft>
                <a:spcPts val="1200"/>
              </a:spcAft>
              <a:defRPr sz="1300">
                <a:solidFill>
                  <a:srgbClr val="F0F0F0"/>
                </a:solidFill>
              </a:defRPr>
            </a:pPr>
            <a:r>
              <a:t>• System Memory (RAM): Minimum 8 GB (16 GB Recommended)</a:t>
            </a:r>
          </a:p>
          <a:p>
            <a:pPr>
              <a:spcAft>
                <a:spcPts val="1200"/>
              </a:spcAft>
              <a:defRPr sz="1300">
                <a:solidFill>
                  <a:srgbClr val="F0F0F0"/>
                </a:solidFill>
              </a:defRPr>
            </a:pPr>
            <a:r>
              <a:t>• Storage Space: 5 GB available SSD storage space</a:t>
            </a:r>
          </a:p>
          <a:p>
            <a:pPr>
              <a:spcAft>
                <a:spcPts val="1200"/>
              </a:spcAft>
              <a:defRPr sz="1300">
                <a:solidFill>
                  <a:srgbClr val="F0F0F0"/>
                </a:solidFill>
              </a:defRPr>
            </a:pPr>
            <a:r>
              <a:t>• Execution Mode: Cross-Platform Native Binary &amp; Calibrated PDK Prototype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E676"/>
                </a:solidFill>
                <a:latin typeface="Consolas"/>
              </a:defRPr>
            </a:pPr>
            <a:r>
              <a:t>VLSI CAD &amp; AI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0F0F0"/>
                </a:solidFill>
                <a:latin typeface="Segoe UI"/>
              </a:defRPr>
            </a:pPr>
            <a:r>
              <a:t>Technical 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 b="1">
                <a:solidFill>
                  <a:srgbClr val="00E676"/>
                </a:solidFill>
              </a:defRPr>
            </a:pPr>
            <a:r>
              <a:t>⚙️ 7-Stage Timing Closure Execution Pipeline</a:t>
            </a:r>
          </a:p>
          <a:p>
            <a:pPr>
              <a:spcAft>
                <a:spcPts val="800"/>
              </a:spcAft>
              <a:defRPr sz="1300">
                <a:solidFill>
                  <a:srgbClr val="F0F0F0"/>
                </a:solidFill>
              </a:defRPr>
            </a:pPr>
            <a:r>
              <a:t>1. RTL Ingestion &amp; Syntax Check: Verilog port balancing, module validation, and Graphviz schematic rendering.</a:t>
            </a:r>
          </a:p>
          <a:p>
            <a:pPr>
              <a:spcAft>
                <a:spcPts val="800"/>
              </a:spcAft>
              <a:defRPr sz="1300">
                <a:solidFill>
                  <a:srgbClr val="F0F0F0"/>
                </a:solidFill>
              </a:defRPr>
            </a:pPr>
            <a:r>
              <a:t>2. Yosys Gate Synthesis: Gate-level mapping to Nangate 45nm technology library.</a:t>
            </a:r>
          </a:p>
          <a:p>
            <a:pPr>
              <a:spcAft>
                <a:spcPts val="800"/>
              </a:spcAft>
              <a:defRPr sz="1300">
                <a:solidFill>
                  <a:srgbClr val="F0F0F0"/>
                </a:solidFill>
              </a:defRPr>
            </a:pPr>
            <a:r>
              <a:t>3. OpenROAD Layout Extraction: Floorplanning, placement density, CTS, and net wirelength calculation.</a:t>
            </a:r>
          </a:p>
          <a:p>
            <a:pPr>
              <a:spcAft>
                <a:spcPts val="800"/>
              </a:spcAft>
              <a:defRPr sz="1300">
                <a:solidFill>
                  <a:srgbClr val="F0F0F0"/>
                </a:solidFill>
              </a:defRPr>
            </a:pPr>
            <a:r>
              <a:t>4. OpenSTA Timing Analysis: Setup slack (WNS/TNS) and critical path delay extraction.</a:t>
            </a:r>
          </a:p>
          <a:p>
            <a:pPr>
              <a:spcAft>
                <a:spcPts val="800"/>
              </a:spcAft>
              <a:defRPr sz="1300">
                <a:solidFill>
                  <a:srgbClr val="F0F0F0"/>
                </a:solidFill>
              </a:defRPr>
            </a:pPr>
            <a:r>
              <a:t>5. 16D Feature Extraction: Microarchitectural &amp; physical layout vector formulation.</a:t>
            </a:r>
          </a:p>
          <a:p>
            <a:pPr>
              <a:spcAft>
                <a:spcPts val="800"/>
              </a:spcAft>
              <a:defRPr sz="1300">
                <a:solidFill>
                  <a:srgbClr val="F0F0F0"/>
                </a:solidFill>
              </a:defRPr>
            </a:pPr>
            <a:r>
              <a:t>6. ML Classification &amp; SHAP Drivers: Random Forest/XGBoost prediction (97.29% accuracy) &amp; failure driver ranking.</a:t>
            </a:r>
          </a:p>
          <a:p>
            <a:pPr>
              <a:spcAft>
                <a:spcPts val="800"/>
              </a:spcAft>
              <a:defRPr sz="1300">
                <a:solidFill>
                  <a:srgbClr val="F0F0F0"/>
                </a:solidFill>
              </a:defRPr>
            </a:pPr>
            <a:r>
              <a:t>7. Automated Optimization Directives: Pipelining register insertion, cell resizing, and IEEE PDF report export.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E676"/>
                </a:solidFill>
                <a:latin typeface="Consolas"/>
              </a:defRPr>
            </a:pPr>
            <a:r>
              <a:t>VLSI CAD &amp; AI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0F0F0"/>
                </a:solidFill>
                <a:latin typeface="Segoe UI"/>
              </a:defRPr>
            </a:pPr>
            <a:r>
              <a:t>Experimental Results &amp; Validation Metrics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51206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4023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676"/>
                          </a:solidFill>
                        </a:defRPr>
                      </a:pPr>
                      <a:r>
                        <a:t>Dataset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676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0F0F0"/>
                          </a:solidFill>
                        </a:defRPr>
                      </a:pPr>
                      <a:r>
                        <a:t>Total Valid Design Sweeps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0F0F0"/>
                          </a:solidFill>
                        </a:defRPr>
                      </a:pPr>
                      <a:r>
                        <a:t>1,105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0F0F0"/>
                          </a:solidFill>
                        </a:defRPr>
                      </a:pPr>
                      <a:r>
                        <a:t>Timing Violation Samples (WNS &lt; 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0F0F0"/>
                          </a:solidFill>
                        </a:defRPr>
                      </a:pPr>
                      <a:r>
                        <a:t>561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0F0F0"/>
                          </a:solidFill>
                        </a:defRPr>
                      </a:pPr>
                      <a:r>
                        <a:t>Non-Violation Samples (WNS &gt;= 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0F0F0"/>
                          </a:solidFill>
                        </a:defRPr>
                      </a:pPr>
                      <a:r>
                        <a:t>544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0F0F0"/>
                          </a:solidFill>
                        </a:defRPr>
                      </a:pPr>
                      <a:r>
                        <a:t>Train / Test 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0F0F0"/>
                          </a:solidFill>
                        </a:defRPr>
                      </a:pPr>
                      <a:r>
                        <a:t>884 / 221 (80/20)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463040"/>
          <a:ext cx="52120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2606040"/>
              </a:tblGrid>
              <a:tr h="4023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676"/>
                          </a:solidFill>
                        </a:defRPr>
                      </a:pPr>
                      <a:r>
                        <a:t>Model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676"/>
                          </a:solidFill>
                        </a:defRPr>
                      </a:pPr>
                      <a:r>
                        <a:t>Score (%)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0F0F0"/>
                          </a:solidFill>
                        </a:defRPr>
                      </a:pPr>
                      <a:r>
                        <a:t>Random Forest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0F0F0"/>
                          </a:solidFill>
                        </a:defRPr>
                      </a:pPr>
                      <a:r>
                        <a:t>97.29%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0F0F0"/>
                          </a:solidFill>
                        </a:defRPr>
                      </a:pPr>
                      <a:r>
                        <a:t>Precision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0F0F0"/>
                          </a:solidFill>
                        </a:defRPr>
                      </a:pPr>
                      <a:r>
                        <a:t>99.07%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0F0F0"/>
                          </a:solidFill>
                        </a:defRPr>
                      </a:pPr>
                      <a:r>
                        <a:t>Recall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0F0F0"/>
                          </a:solidFill>
                        </a:defRPr>
                      </a:pPr>
                      <a:r>
                        <a:t>95.54%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0F0F0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0F0F0"/>
                          </a:solidFill>
                        </a:defRPr>
                      </a:pPr>
                      <a:r>
                        <a:t>97.27%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384048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E676"/>
                          </a:solidFill>
                        </a:defRPr>
                      </a:pPr>
                      <a:r>
                        <a:t>Design 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E676"/>
                          </a:solidFill>
                        </a:defRPr>
                      </a:pPr>
                      <a:r>
                        <a:t>Logic 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E676"/>
                          </a:solidFill>
                        </a:defRPr>
                      </a:pPr>
                      <a:r>
                        <a:t>Critical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E676"/>
                          </a:solidFill>
                        </a:defRPr>
                      </a:pPr>
                      <a:r>
                        <a:t>OpenSTA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E676"/>
                          </a:solidFill>
                        </a:defRPr>
                      </a:pPr>
                      <a:r>
                        <a:t>ML Prediction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0F0F0"/>
                          </a:solidFill>
                        </a:defRPr>
                      </a:pPr>
                      <a:r>
                        <a:t>Unoptimized Multiplier (multiplier_unoptimized)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0F0F0"/>
                          </a:solidFill>
                        </a:defRPr>
                      </a:pPr>
                      <a:r>
                        <a:t>18 levels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0F0F0"/>
                          </a:solidFill>
                        </a:defRPr>
                      </a:pPr>
                      <a:r>
                        <a:t>1.85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0F0F0"/>
                          </a:solidFill>
                        </a:defRPr>
                      </a:pPr>
                      <a:r>
                        <a:t>Violation (WNS = -0.85ns)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0F0F0"/>
                          </a:solidFill>
                        </a:defRPr>
                      </a:pPr>
                      <a:r>
                        <a:t>VIOLATION (94.2%) ❌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0F0F0"/>
                          </a:solidFill>
                        </a:defRPr>
                      </a:pPr>
                      <a:r>
                        <a:t>Optimized Multiplier (multiplier_optimized)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0F0F0"/>
                          </a:solidFill>
                        </a:defRPr>
                      </a:pPr>
                      <a:r>
                        <a:t>7 levels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0F0F0"/>
                          </a:solidFill>
                        </a:defRPr>
                      </a:pPr>
                      <a:r>
                        <a:t>0.78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0F0F0"/>
                          </a:solidFill>
                        </a:defRPr>
                      </a:pPr>
                      <a:r>
                        <a:t>Pass (WNS = +0.22ns)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0F0F0"/>
                          </a:solidFill>
                        </a:defRPr>
                      </a:pPr>
                      <a:r>
                        <a:t>PASSED (95.9%) 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E676"/>
                </a:solidFill>
                <a:latin typeface="Consolas"/>
              </a:defRPr>
            </a:pPr>
            <a:r>
              <a:t>VLSI CAD &amp; AI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0F0F0"/>
                </a:solidFill>
                <a:latin typeface="Segoe UI"/>
              </a:defRPr>
            </a:pPr>
            <a:r>
              <a:t>Conclusion &amp; Key Contributions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10362895" cy="475488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00E676"/>
                </a:solidFill>
              </a:defRPr>
            </a:pPr>
            <a:r>
              <a:t>🏁 Summary of Project Contributions</a:t>
            </a:r>
          </a:p>
          <a:p>
            <a:pPr>
              <a:spcAft>
                <a:spcPts val="1200"/>
              </a:spcAft>
              <a:defRPr sz="1400">
                <a:solidFill>
                  <a:srgbClr val="F0F0F0"/>
                </a:solidFill>
              </a:defRPr>
            </a:pPr>
            <a:r>
              <a:t>• High Predictive Accuracy (97.29%): Accurately predicts setup timing violations post-placement before time-consuming routing sign-off.</a:t>
            </a:r>
          </a:p>
          <a:p>
            <a:pPr>
              <a:spcAft>
                <a:spcPts val="1200"/>
              </a:spcAft>
              <a:defRPr sz="1400">
                <a:solidFill>
                  <a:srgbClr val="F0F0F0"/>
                </a:solidFill>
              </a:defRPr>
            </a:pPr>
            <a:r>
              <a:t>• Explainable Machine Learning: Uses SHAP attribution to rank logic depth and routing congestion as primary failure causes.</a:t>
            </a:r>
          </a:p>
          <a:p>
            <a:pPr>
              <a:spcAft>
                <a:spcPts val="1200"/>
              </a:spcAft>
              <a:defRPr sz="1400">
                <a:solidFill>
                  <a:srgbClr val="F0F0F0"/>
                </a:solidFill>
              </a:defRPr>
            </a:pPr>
            <a:r>
              <a:t>• Proven Timing Closure: Demonstrated timing violation removal by transforming an unpipelined multiplier (WNS = -0.85ns) into a 2-stage pipelined multiplier (WNS = +0.22ns).</a:t>
            </a:r>
          </a:p>
          <a:p>
            <a:pPr>
              <a:spcAft>
                <a:spcPts val="1200"/>
              </a:spcAft>
              <a:defRPr sz="1400">
                <a:solidFill>
                  <a:srgbClr val="F0F0F0"/>
                </a:solidFill>
              </a:defRPr>
            </a:pPr>
            <a:r>
              <a:t>• Fully Integrated Open-Source Toolchain: Seamlessly connects Yosys, OpenROAD, OpenSTA, Streamlit CAD dashboard, and IEEE PDF report generation.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